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founder name + contact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on the customer segments: academies, government programs, corporate L&amp;D, edtech founders.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Pilot: 254 WhatsApp users across 11 states; update completion-rate figure from analytics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EDIT: amount, allocation, and milestones are founder placeholders — set your real numbers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contact details / demo link (http://localhost:3003/?tenant=demo for live demos).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2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6000" b="1">
                <a:solidFill>
                  <a:srgbClr val="FFFFFF"/>
                </a:solidFill>
                <a:latin typeface="Segoe UI"/>
              </a:rPr>
              <a:t>LearnStack</a:t>
            </a:r>
          </a:p>
          <a:p>
            <a:pPr algn="l">
              <a:spcAft>
                <a:spcPts val="2200"/>
              </a:spcAft>
            </a:pPr>
            <a:r>
              <a:rPr sz="2600" b="0">
                <a:solidFill>
                  <a:srgbClr val="BFD9CE"/>
                </a:solidFill>
                <a:latin typeface="Segoe UI"/>
              </a:rPr>
              <a:t>White-label curriculum delivery, as a service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Shopify made everyone a store.  LearnStack makes everyone an academy.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4C6"/>
                </a:solidFill>
                <a:latin typeface="Segoe UI"/>
              </a:rPr>
              <a:t>Investor briefing · July 2026 · Lagos, Nigeria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7F5A"/>
                </a:solidFill>
                <a:latin typeface="Segoe UI"/>
              </a:rPr>
              <a:t>THE PROBLEM</a:t>
            </a:r>
          </a:p>
          <a:p>
            <a:pPr algn="l">
              <a:spcAft>
                <a:spcPts val="600"/>
              </a:spcAft>
            </a:pPr>
            <a:r>
              <a:rPr sz="3300" b="1">
                <a:solidFill>
                  <a:srgbClr val="12325C"/>
                </a:solidFill>
                <a:latin typeface="Segoe UI"/>
              </a:rPr>
              <a:t>Teaching at scale means choosing between three bad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Build your own platform.  </a:t>
            </a:r>
            <a:r>
              <a:rPr sz="1700">
                <a:solidFill>
                  <a:srgbClr val="1F2428"/>
                </a:solidFill>
                <a:latin typeface="Segoe UI"/>
              </a:rPr>
              <a:t>6+ months and an engineering team most training businesses, NGOs, and agencies don't have.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Rent Teachable / Thinkific.  </a:t>
            </a:r>
            <a:r>
              <a:rPr sz="1700">
                <a:solidFill>
                  <a:srgbClr val="1F2428"/>
                </a:solidFill>
                <a:latin typeface="Segoe UI"/>
              </a:rPr>
              <a:t>Fast — but the academy wears someone else's brand, pricing punishes growth, and content is locked in.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Self-host Moodle.  </a:t>
            </a:r>
            <a:r>
              <a:rPr sz="1700">
                <a:solidFill>
                  <a:srgbClr val="1F2428"/>
                </a:solidFill>
                <a:latin typeface="Segoe UI"/>
              </a:rPr>
              <a:t>Free software, expensive reality: servers, plugins, and an interface learners tolerate rather than enjoy.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And every one of them ignores the biggest audience:  </a:t>
            </a:r>
            <a:r>
              <a:rPr sz="1700">
                <a:solidFill>
                  <a:srgbClr val="1F2428"/>
                </a:solidFill>
                <a:latin typeface="Segoe UI"/>
              </a:rPr>
              <a:t>learners on WhatsApp, basic phones, and low bandwidth — ~60% of Nigeria can't be reached by smartphone-only platforms.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7F5A"/>
                </a:solidFill>
                <a:latin typeface="Segoe UI"/>
              </a:rPr>
              <a:t>THE SOLUTION</a:t>
            </a:r>
          </a:p>
          <a:p>
            <a:pPr algn="l">
              <a:spcAft>
                <a:spcPts val="600"/>
              </a:spcAft>
            </a:pPr>
            <a:r>
              <a:rPr sz="3300" b="1">
                <a:solidFill>
                  <a:srgbClr val="12325C"/>
                </a:solidFill>
                <a:latin typeface="Segoe UI"/>
              </a:rPr>
              <a:t>A branded academy in a day — delivering any curriculum, on any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White-label multi-tenancy.  </a:t>
            </a:r>
            <a:r>
              <a:rPr sz="1700">
                <a:solidFill>
                  <a:srgbClr val="1F2428"/>
                </a:solidFill>
                <a:latin typeface="Segoe UI"/>
              </a:rPr>
              <a:t>Each customer gets their name, logo, colors, and domain on one shared platform — unlimited brands, one codebase.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Author once, in blocks.  </a:t>
            </a:r>
            <a:r>
              <a:rPr sz="1700">
                <a:solidFill>
                  <a:srgbClr val="1F2428"/>
                </a:solidFill>
                <a:latin typeface="Segoe UI"/>
              </a:rPr>
              <a:t>Lessons combine video, rich text, audio, images, files, embeds, and graded quizzes.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Deliver everywhere.  </a:t>
            </a:r>
            <a:r>
              <a:rPr sz="1700">
                <a:solidFill>
                  <a:srgbClr val="1F2428"/>
                </a:solidFill>
                <a:latin typeface="Segoe UI"/>
              </a:rPr>
              <a:t>Full-fidelity web · WhatsApp with real video/audio messages · SMS · USSD for feature phones.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Prove it.  </a:t>
            </a:r>
            <a:r>
              <a:rPr sz="1700">
                <a:solidFill>
                  <a:srgbClr val="1F2428"/>
                </a:solidFill>
                <a:latin typeface="Segoe UI"/>
              </a:rPr>
              <a:t>Progress tracking and certificates any employer or ministry can verify publicly.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480560"/>
            <a:ext cx="2556433" cy="155448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A7F5A"/>
                </a:solidFill>
                <a:latin typeface="Segoe UI"/>
              </a:rPr>
              <a:t>1 day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F6B73"/>
                </a:solidFill>
                <a:latin typeface="Segoe UI"/>
              </a:rPr>
              <a:t>brand to launch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5113" y="4480560"/>
            <a:ext cx="2556433" cy="155448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A7F5A"/>
                </a:solidFill>
                <a:latin typeface="Segoe UI"/>
              </a:rPr>
              <a:t>7 formats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F6B73"/>
                </a:solidFill>
                <a:latin typeface="Segoe UI"/>
              </a:rPr>
              <a:t>per lesson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0146" y="4480560"/>
            <a:ext cx="2556433" cy="155448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A7F5A"/>
                </a:solidFill>
                <a:latin typeface="Segoe UI"/>
              </a:rPr>
              <a:t>4 channels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F6B73"/>
                </a:solidFill>
                <a:latin typeface="Segoe UI"/>
              </a:rPr>
              <a:t>web · WhatsApp · SMS · USSD</a:t>
            </a:r>
          </a:p>
        </p:txBody>
      </p:sp>
      <p:sp>
        <p:nvSpPr>
          <p:cNvPr id="8" name="Rectangle 7"/>
          <p:cNvSpPr/>
          <p:nvPr/>
        </p:nvSpPr>
        <p:spPr>
          <a:xfrm>
            <a:off x="8995179" y="4480560"/>
            <a:ext cx="2556433" cy="155448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A7F5A"/>
                </a:solidFill>
                <a:latin typeface="Segoe UI"/>
              </a:rPr>
              <a:t>100%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F6B73"/>
                </a:solidFill>
                <a:latin typeface="Segoe UI"/>
              </a:rPr>
              <a:t>curriculum portability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7F5A"/>
                </a:solidFill>
                <a:latin typeface="Segoe UI"/>
              </a:rPr>
              <a:t>PRODUCT</a:t>
            </a:r>
          </a:p>
          <a:p>
            <a:pPr algn="l">
              <a:spcAft>
                <a:spcPts val="600"/>
              </a:spcAft>
            </a:pPr>
            <a:r>
              <a:rPr sz="3300" b="1">
                <a:solidFill>
                  <a:srgbClr val="12325C"/>
                </a:solidFill>
                <a:latin typeface="Segoe UI"/>
              </a:rPr>
              <a:t>One lesson, rendered to each channel's strengths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68680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Channel</a:t>
                      </a:r>
                    </a:p>
                  </a:txBody>
                  <a:tcPr>
                    <a:solidFill>
                      <a:srgbClr val="12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the learner gets</a:t>
                      </a:r>
                    </a:p>
                  </a:txBody>
                  <a:tcPr>
                    <a:solidFill>
                      <a:srgbClr val="1232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428"/>
                          </a:solidFill>
                          <a:latin typeface="Segoe UI"/>
                        </a:rPr>
                        <a:t>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Streaming video, audio, quizzes, certificates — the full experience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428"/>
                          </a:solidFill>
                          <a:latin typeface="Segoe UI"/>
                        </a:rPr>
                        <a:t>WhatsApp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Conversational lessons with real video, audio, and image messages; quiz by reply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428"/>
                          </a:solidFill>
                          <a:latin typeface="Segoe UI"/>
                        </a:rPr>
                        <a:t>SMS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Text lessons chunked to segment limits; media becomes a captioned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428"/>
                          </a:solidFill>
                          <a:latin typeface="Segoe UI"/>
                        </a:rPr>
                        <a:t>USSD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Text-only sessions for feature phones — no data plan, no smartphone required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7F5A"/>
                </a:solidFill>
                <a:latin typeface="Segoe UI"/>
              </a:rPr>
              <a:t>Under the hood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428"/>
                </a:solidFill>
                <a:latin typeface="Segoe UI"/>
              </a:rPr>
              <a:t>One conversation engine drives every messaging channel: menu → enroll → lesson → quiz → certificate. Tenants connect their own WhatsApp/SMS numbers. A built-in simulator tests every flow before any provider account exists. Whole curricula import and export as portable 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7F5A"/>
                </a:solidFill>
                <a:latin typeface="Segoe UI"/>
              </a:rPr>
              <a:t>PROOF</a:t>
            </a:r>
          </a:p>
          <a:p>
            <a:pPr algn="l">
              <a:spcAft>
                <a:spcPts val="600"/>
              </a:spcAft>
            </a:pPr>
            <a:r>
              <a:rPr sz="3300" b="1">
                <a:solidFill>
                  <a:srgbClr val="12325C"/>
                </a:solidFill>
                <a:latin typeface="Segoe UI"/>
              </a:rPr>
              <a:t>Born from a platform that already ran nationally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2325C"/>
                </a:solidFill>
                <a:latin typeface="Segoe UI"/>
              </a:rPr>
              <a:t>MNAIR — Make Nigeria AI Ready:  </a:t>
            </a:r>
            <a:r>
              <a:rPr sz="1600">
                <a:solidFill>
                  <a:srgbClr val="1F2428"/>
                </a:solidFill>
                <a:latin typeface="Segoe UI"/>
              </a:rPr>
              <a:t>our national AI-literacy platform and LearnStack's first flagship curriculum.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2325C"/>
                </a:solidFill>
                <a:latin typeface="Segoe UI"/>
              </a:rPr>
              <a:t>The engine is not a prototype:  </a:t>
            </a:r>
            <a:r>
              <a:rPr sz="1600">
                <a:solidFill>
                  <a:srgbClr val="1F2428"/>
                </a:solidFill>
                <a:latin typeface="Segoe UI"/>
              </a:rPr>
              <a:t>multi-tenant platform built, end-to-end tested (authoring → enrollment → quiz → verified certificate), MNAIR imports with one command.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2325C"/>
                </a:solidFill>
                <a:latin typeface="Segoe UI"/>
              </a:rPr>
              <a:t>Institutional demand signal:  </a:t>
            </a:r>
            <a:r>
              <a:rPr sz="1600">
                <a:solidFill>
                  <a:srgbClr val="1F2428"/>
                </a:solidFill>
                <a:latin typeface="Segoe UI"/>
              </a:rPr>
              <a:t>NITDA–NYSC digital literacy ambassador program actively seeking platform partners (2026).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343400"/>
            <a:ext cx="2556433" cy="155448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A7F5A"/>
                </a:solidFill>
                <a:latin typeface="Segoe UI"/>
              </a:rPr>
              <a:t>175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F6B73"/>
                </a:solidFill>
                <a:latin typeface="Segoe UI"/>
              </a:rPr>
              <a:t>lessons authored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5113" y="4343400"/>
            <a:ext cx="2556433" cy="155448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A7F5A"/>
                </a:solidFill>
                <a:latin typeface="Segoe UI"/>
              </a:rPr>
              <a:t>5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F6B73"/>
                </a:solidFill>
                <a:latin typeface="Segoe UI"/>
              </a:rPr>
              <a:t>Nigerian languages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0146" y="4343400"/>
            <a:ext cx="2556433" cy="155448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A7F5A"/>
                </a:solidFill>
                <a:latin typeface="Segoe UI"/>
              </a:rPr>
              <a:t>254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F6B73"/>
                </a:solidFill>
                <a:latin typeface="Segoe UI"/>
              </a:rPr>
              <a:t>pilot learners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95179" y="4343400"/>
            <a:ext cx="2556433" cy="1554480"/>
          </a:xfrm>
          <a:prstGeom prst="rect">
            <a:avLst/>
          </a:prstGeom>
          <a:solidFill>
            <a:srgbClr val="F2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A7F5A"/>
                </a:solidFill>
                <a:latin typeface="Segoe UI"/>
              </a:rPr>
              <a:t>11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F6B73"/>
                </a:solidFill>
                <a:latin typeface="Segoe UI"/>
              </a:rPr>
              <a:t>states reached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7F5A"/>
                </a:solidFill>
                <a:latin typeface="Segoe UI"/>
              </a:rPr>
              <a:t>WHY NOW</a:t>
            </a:r>
          </a:p>
          <a:p>
            <a:pPr algn="l">
              <a:spcAft>
                <a:spcPts val="600"/>
              </a:spcAft>
            </a:pPr>
            <a:r>
              <a:rPr sz="3300" b="1">
                <a:solidFill>
                  <a:srgbClr val="12325C"/>
                </a:solidFill>
                <a:latin typeface="Segoe UI"/>
              </a:rPr>
              <a:t>The window is open — and the incumbents aren't looking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Government push.  </a:t>
            </a:r>
            <a:r>
              <a:rPr sz="1700">
                <a:solidFill>
                  <a:srgbClr val="1F2428"/>
                </a:solidFill>
                <a:latin typeface="Segoe UI"/>
              </a:rPr>
              <a:t>Nigeria's National AI Strategy is in implementation; NITDA is recruiting platform partners for nationwide digital literacy.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WhatsApp-first learning is exploding,  </a:t>
            </a:r>
            <a:r>
              <a:rPr sz="1700">
                <a:solidFill>
                  <a:srgbClr val="1F2428"/>
                </a:solidFill>
                <a:latin typeface="Segoe UI"/>
              </a:rPr>
              <a:t>but no incumbent LMS delivers structured curricula with media over WhatsApp, SMS, or USSD.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Global e-learning spend keeps compounding  </a:t>
            </a:r>
            <a:r>
              <a:rPr sz="1700">
                <a:solidFill>
                  <a:srgbClr val="1F2428"/>
                </a:solidFill>
                <a:latin typeface="Segoe UI"/>
              </a:rPr>
              <a:t>(LMS market est. $20B+, high-teens CAGR) while African training businesses still run on PDFs and group chats.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The differentiation window is real:  </a:t>
            </a:r>
            <a:r>
              <a:rPr sz="1700">
                <a:solidFill>
                  <a:srgbClr val="1F2428"/>
                </a:solidFill>
                <a:latin typeface="Segoe UI"/>
              </a:rPr>
              <a:t>channel delivery + white-labeling + content portability is a structural combination, not a feature toggle.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7F5A"/>
                </a:solidFill>
                <a:latin typeface="Segoe UI"/>
              </a:rPr>
              <a:t>COMPETITION</a:t>
            </a:r>
          </a:p>
          <a:p>
            <a:pPr algn="l">
              <a:spcAft>
                <a:spcPts val="600"/>
              </a:spcAft>
            </a:pPr>
            <a:r>
              <a:rPr sz="3300" b="1">
                <a:solidFill>
                  <a:srgbClr val="12325C"/>
                </a:solidFill>
                <a:latin typeface="Segoe UI"/>
              </a:rPr>
              <a:t>The combination is the moat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881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011680"/>
                <a:gridCol w="219456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12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LearnStack</a:t>
                      </a:r>
                    </a:p>
                  </a:txBody>
                  <a:tcPr>
                    <a:solidFill>
                      <a:srgbClr val="12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Teachable/Thinkific</a:t>
                      </a:r>
                    </a:p>
                  </a:txBody>
                  <a:tcPr>
                    <a:solidFill>
                      <a:srgbClr val="12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Moodle</a:t>
                      </a:r>
                    </a:p>
                  </a:txBody>
                  <a:tcPr>
                    <a:solidFill>
                      <a:srgbClr val="12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TalentLMS</a:t>
                      </a:r>
                    </a:p>
                  </a:txBody>
                  <a:tcPr>
                    <a:solidFill>
                      <a:srgbClr val="1232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428"/>
                          </a:solidFill>
                          <a:latin typeface="Segoe UI"/>
                        </a:rPr>
                        <a:t>True white-label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✓ core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partial,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✓ with effort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428"/>
                          </a:solidFill>
                          <a:latin typeface="Segoe UI"/>
                        </a:rPr>
                        <a:t>Run many academies (operator model)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limited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428"/>
                          </a:solidFill>
                          <a:latin typeface="Segoe UI"/>
                        </a:rPr>
                        <a:t>WhatsApp / SMS / USSD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✓ shipped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428"/>
                          </a:solidFill>
                          <a:latin typeface="Segoe UI"/>
                        </a:rPr>
                        <a:t>Curriculum portability (full JSON)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428"/>
                          </a:solidFill>
                          <a:latin typeface="Segoe UI"/>
                        </a:rPr>
                        <a:t>Verifiable certificates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add-on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plugin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428"/>
                          </a:solidFill>
                          <a:latin typeface="Segoe UI"/>
                        </a:rPr>
                        <a:t>Ops burden on customer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7F5A"/>
                </a:solidFill>
                <a:latin typeface="Segoe UI"/>
              </a:rPr>
              <a:t>BUSINESS MODEL</a:t>
            </a:r>
          </a:p>
          <a:p>
            <a:pPr algn="l">
              <a:spcAft>
                <a:spcPts val="600"/>
              </a:spcAft>
            </a:pPr>
            <a:r>
              <a:rPr sz="3300" b="1">
                <a:solidFill>
                  <a:srgbClr val="12325C"/>
                </a:solidFill>
                <a:latin typeface="Segoe UI"/>
              </a:rPr>
              <a:t>Per-tenant SaaS, priced on learners — never on content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1463040"/>
                <a:gridCol w="52120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Tier</a:t>
                      </a:r>
                    </a:p>
                  </a:txBody>
                  <a:tcPr>
                    <a:solidFill>
                      <a:srgbClr val="12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>
                    <a:solidFill>
                      <a:srgbClr val="12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Price</a:t>
                      </a:r>
                    </a:p>
                  </a:txBody>
                  <a:tcPr>
                    <a:solidFill>
                      <a:srgbClr val="12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Includes</a:t>
                      </a:r>
                    </a:p>
                  </a:txBody>
                  <a:tcPr>
                    <a:solidFill>
                      <a:srgbClr val="1232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428"/>
                          </a:solidFill>
                          <a:latin typeface="Segoe UI"/>
                        </a:rPr>
                        <a:t>Starter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Solo trainers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$29/mo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1 live course, 100 learners, subdomain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428"/>
                          </a:solidFill>
                          <a:latin typeface="Segoe UI"/>
                        </a:rPr>
                        <a:t>Growth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Academies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$99/mo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Unlimited courses, 1,000 learners, custom domain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428"/>
                          </a:solidFill>
                          <a:latin typeface="Segoe UI"/>
                        </a:rPr>
                        <a:t>Institution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Gov / NGO / corporate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$499+/mo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Unlimited learners, SLA, onboarding,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428"/>
                          </a:solidFill>
                          <a:latin typeface="Segoe UI"/>
                        </a:rPr>
                        <a:t>Sovereign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National programs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Custom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428"/>
                          </a:solidFill>
                          <a:latin typeface="Segoe UI"/>
                        </a:rPr>
                        <a:t>Isolated deployment, operator training</a:t>
                      </a:r>
                    </a:p>
                  </a:txBody>
                  <a:tcPr>
                    <a:solidFill>
                      <a:srgbClr val="F2F5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97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428"/>
                </a:solidFill>
                <a:latin typeface="Segoe UI"/>
              </a:rPr>
              <a:t>Marginal cost per tenant is near zero (shared infrastructure). High-margin add-ons: curriculum migration services (half-automated already), certificate volume for verifiers, and later a revenue share on paid-course checkout. Paystack-first for NGN reality; Stripe for the rest.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7F5A"/>
                </a:solidFill>
                <a:latin typeface="Segoe UI"/>
              </a:rPr>
              <a:t>GO-TO-MARKET</a:t>
            </a:r>
          </a:p>
          <a:p>
            <a:pPr algn="l">
              <a:spcAft>
                <a:spcPts val="600"/>
              </a:spcAft>
            </a:pPr>
            <a:r>
              <a:rPr sz="3300" b="1">
                <a:solidFill>
                  <a:srgbClr val="12325C"/>
                </a:solidFill>
                <a:latin typeface="Segoe UI"/>
              </a:rPr>
              <a:t>Land where the pain is sharpest, expand where the budgets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1 · Training academies &amp; bootcamps (now).  </a:t>
            </a:r>
            <a:r>
              <a:rPr sz="1700">
                <a:solidFill>
                  <a:srgbClr val="1F2428"/>
                </a:solidFill>
                <a:latin typeface="Segoe UI"/>
              </a:rPr>
              <a:t>West African trainers running on WhatsApp groups and PDFs — direct sales, 5 design partners first.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2 · Government &amp; NGO programs.  </a:t>
            </a:r>
            <a:r>
              <a:rPr sz="1700">
                <a:solidFill>
                  <a:srgbClr val="1F2428"/>
                </a:solidFill>
                <a:latin typeface="Segoe UI"/>
              </a:rPr>
              <a:t>The NITDA–NYSC ambassador model generalizes: every agency becomes a tenant. MNAIR is the working reference.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3 · Corporate L&amp;D and compliance.  </a:t>
            </a:r>
            <a:r>
              <a:rPr sz="1700">
                <a:solidFill>
                  <a:srgbClr val="1F2428"/>
                </a:solidFill>
                <a:latin typeface="Segoe UI"/>
              </a:rPr>
              <a:t>Certification with a public audit trail; SCORM import unlocks migration deals.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325C"/>
                </a:solidFill>
                <a:latin typeface="Segoe UI"/>
              </a:rPr>
              <a:t>4 · Edtech founders (self-serve).  </a:t>
            </a:r>
            <a:r>
              <a:rPr sz="1700">
                <a:solidFill>
                  <a:srgbClr val="1F2428"/>
                </a:solidFill>
                <a:latin typeface="Segoe UI"/>
              </a:rPr>
              <a:t>The Teachable segment, minus the brand tax and lock-in.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7F5A"/>
                </a:solidFill>
                <a:latin typeface="Segoe UI"/>
              </a:rPr>
              <a:t>ROADMAP</a:t>
            </a:r>
          </a:p>
          <a:p>
            <a:pPr algn="l">
              <a:spcAft>
                <a:spcPts val="600"/>
              </a:spcAft>
            </a:pPr>
            <a:r>
              <a:rPr sz="3300" b="1">
                <a:solidFill>
                  <a:srgbClr val="12325C"/>
                </a:solidFill>
                <a:latin typeface="Segoe UI"/>
              </a:rPr>
              <a:t>Shipped platform → first revenue → compounding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50" b="1">
                <a:solidFill>
                  <a:srgbClr val="12325C"/>
                </a:solidFill>
                <a:latin typeface="Segoe UI"/>
              </a:rPr>
              <a:t>Shipped:  </a:t>
            </a:r>
            <a:r>
              <a:rPr sz="1550">
                <a:solidFill>
                  <a:srgbClr val="1F2428"/>
                </a:solidFill>
                <a:latin typeface="Segoe UI"/>
              </a:rPr>
              <a:t>multi-tenant white-labeling · block authoring with video · WhatsApp/SMS/USSD delivery with simulator · quizzes · verifiable certificates · JSON import/export · Docker deploy · test suite.</a:t>
            </a:r>
          </a:p>
          <a:p>
            <a:pPr>
              <a:spcAft>
                <a:spcPts val="1100"/>
              </a:spcAft>
            </a:pPr>
            <a:r>
              <a:rPr sz="1550" b="1">
                <a:solidFill>
                  <a:srgbClr val="12325C"/>
                </a:solidFill>
                <a:latin typeface="Segoe UI"/>
              </a:rPr>
              <a:t>Next 90 days:  </a:t>
            </a:r>
            <a:r>
              <a:rPr sz="1550">
                <a:solidFill>
                  <a:srgbClr val="1F2428"/>
                </a:solidFill>
                <a:latin typeface="Segoe UI"/>
              </a:rPr>
              <a:t>Paystack + Stripe billing · S3/CDN media · per-tenant analytics · custom-domain automation · hosted drip cadences.</a:t>
            </a:r>
          </a:p>
          <a:p>
            <a:pPr>
              <a:spcAft>
                <a:spcPts val="1100"/>
              </a:spcAft>
            </a:pPr>
            <a:r>
              <a:rPr sz="1550" b="1">
                <a:solidFill>
                  <a:srgbClr val="12325C"/>
                </a:solidFill>
                <a:latin typeface="Segoe UI"/>
              </a:rPr>
              <a:t>Two quarters:  </a:t>
            </a:r>
            <a:r>
              <a:rPr sz="1550">
                <a:solidFill>
                  <a:srgbClr val="1F2428"/>
                </a:solidFill>
                <a:latin typeface="Segoe UI"/>
              </a:rPr>
              <a:t>cohorts &amp; scheduled programs · multi-language variants · WhatsApp interactive buttons · AI-assisted lesson drafting.</a:t>
            </a:r>
          </a:p>
          <a:p>
            <a:pPr>
              <a:spcAft>
                <a:spcPts val="1100"/>
              </a:spcAft>
            </a:pPr>
            <a:r>
              <a:rPr sz="1550" b="1">
                <a:solidFill>
                  <a:srgbClr val="12325C"/>
                </a:solidFill>
                <a:latin typeface="Segoe UI"/>
              </a:rPr>
              <a:t>Four quarters:  </a:t>
            </a:r>
            <a:r>
              <a:rPr sz="1550">
                <a:solidFill>
                  <a:srgbClr val="1F2428"/>
                </a:solidFill>
                <a:latin typeface="Segoe UI"/>
              </a:rPr>
              <a:t>SCORM/xAPI import · voice/IVR channel · curriculum marketplace with revenue share.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2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7F5A"/>
                </a:solidFill>
                <a:latin typeface="Segoe UI"/>
              </a:rPr>
              <a:t>THE ASK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Pre-seed to turn a shipped platform into a revenue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Raising: $250K pre-seed  (12–15 months runway)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9E4DE"/>
                </a:solidFill>
                <a:latin typeface="Segoe UI"/>
              </a:rPr>
              <a:t>•  40% — engineering: billing, S3/CDN media, analytics, cohort scheduling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9E4DE"/>
                </a:solidFill>
                <a:latin typeface="Segoe UI"/>
              </a:rPr>
              <a:t>•  30% — go-to-market: 5 design partners → 50 paying tenants; NITDA partnership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9E4DE"/>
                </a:solidFill>
                <a:latin typeface="Segoe UI"/>
              </a:rPr>
              <a:t>•  20% — infrastructure &amp; provider costs (WhatsApp Business, Africa's Talking)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D9E4DE"/>
                </a:solidFill>
                <a:latin typeface="Segoe UI"/>
              </a:rPr>
              <a:t>•  10% — operations &amp; compliance (NDPA)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Milestone at raise+12mo: 50 tenants · 25,000 learners · $15K MRR · 2 institutional contracts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2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2325C"/>
                </a:solidFill>
                <a:latin typeface="Segoe UI"/>
              </a:rPr>
              <a:t>Everyone has something to teach.</a:t>
            </a:r>
          </a:p>
          <a:p>
            <a:pPr algn="l">
              <a:spcAft>
                <a:spcPts val="2400"/>
              </a:spcAft>
            </a:pPr>
            <a:r>
              <a:rPr sz="3400" b="1">
                <a:solidFill>
                  <a:srgbClr val="1A7F5A"/>
                </a:solidFill>
                <a:latin typeface="Segoe UI"/>
              </a:rPr>
              <a:t>We give them the academy.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73"/>
                </a:solidFill>
                <a:latin typeface="Segoe UI"/>
              </a:rPr>
              <a:t>LearnStack — white-label curriculum delivery on web, WhatsApp, SMS, and USSD.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